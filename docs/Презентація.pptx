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8" r:id="rId10"/>
    <p:sldId id="263" r:id="rId11"/>
    <p:sldId id="265" r:id="rId12"/>
    <p:sldId id="269" r:id="rId13"/>
  </p:sldIdLst>
  <p:sldSz cx="14630400" cy="8229600"/>
  <p:notesSz cx="8229600" cy="146304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Inter" panose="020B0604020202020204" charset="0"/>
      <p:regular r:id="rId19"/>
    </p:embeddedFont>
    <p:embeddedFont>
      <p:font typeface="Instrument Sans Medium" panose="020B0604020202020204" charset="0"/>
      <p:regular r:id="rId2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6347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585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narHorz">
          <a:fgClr>
            <a:schemeClr val="tx1">
              <a:lumMod val="85000"/>
              <a:lumOff val="15000"/>
            </a:schemeClr>
          </a:fgClr>
          <a:bgClr>
            <a:schemeClr val="tx1">
              <a:lumMod val="85000"/>
              <a:lumOff val="1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-3-8.svg"/><Relationship Id="rId13" Type="http://schemas.openxmlformats.org/officeDocument/2006/relationships/image" Target="../media/image8.png"/><Relationship Id="rId3" Type="http://schemas.openxmlformats.org/officeDocument/2006/relationships/image" Target="../media/image5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-3-6.svg"/><Relationship Id="rId11" Type="http://schemas.openxmlformats.org/officeDocument/2006/relationships/image" Target="../media/image6.png"/><Relationship Id="rId5" Type="http://schemas.openxmlformats.org/officeDocument/2006/relationships/image" Target="../media/image-3-4.svg"/><Relationship Id="rId15" Type="http://schemas.openxmlformats.org/officeDocument/2006/relationships/image" Target="../media/image10.png"/><Relationship Id="rId10" Type="http://schemas.openxmlformats.org/officeDocument/2006/relationships/image" Target="../media/image-3-10.svg"/><Relationship Id="rId4" Type="http://schemas.openxmlformats.org/officeDocument/2006/relationships/image" Target="../media/image-3-2.svg"/><Relationship Id="rId1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734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9448" y="1590324"/>
            <a:ext cx="8098925" cy="2311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Веб-сервіс </a:t>
            </a:r>
            <a:r>
              <a:rPr lang="en-US" sz="4450" dirty="0" err="1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прогнозування</a:t>
            </a: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4450" dirty="0" err="1" smtClean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погоди</a:t>
            </a:r>
            <a:r>
              <a:rPr lang="" sz="4450" dirty="0" smtClean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шляхом агрегац</a:t>
            </a:r>
            <a:r>
              <a:rPr lang="uk-UA" sz="4450" dirty="0" err="1" smtClean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ії</a:t>
            </a:r>
            <a:r>
              <a:rPr lang="uk-UA" sz="4450" dirty="0" smtClean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даних різних </a:t>
            </a:r>
            <a:r>
              <a:rPr lang="uk-UA" sz="4450" dirty="0" err="1" smtClean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гідрометцентрів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163806" y="49816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Виконав: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163806" y="5562813"/>
            <a:ext cx="381781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Студент групи ІП-31 Віжуткін Ілля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342721" y="49816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Керівник: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342721" y="5562813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Ст. </a:t>
            </a:r>
            <a:r>
              <a:rPr lang="en-US" sz="1750" dirty="0" err="1" smtClean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викл</a:t>
            </a:r>
            <a:r>
              <a:rPr lang="uk-UA" sz="1750" dirty="0" smtClean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r>
              <a:rPr lang="en-US" sz="1750" dirty="0" err="1" smtClean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Головченко</a:t>
            </a:r>
            <a:r>
              <a:rPr lang="en-US" sz="1750" dirty="0" smtClean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М.М.</a:t>
            </a:r>
            <a:endParaRPr lang="en-US" sz="1750" dirty="0"/>
          </a:p>
        </p:txBody>
      </p:sp>
      <p:pic>
        <p:nvPicPr>
          <p:cNvPr id="2052" name="Picture 4" descr="Weather poster Images - Free Download on Freepi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36851" y="0"/>
            <a:ext cx="8155517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3930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Призначення та Мета Проекту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897029"/>
            <a:ext cx="7556421" cy="1801773"/>
          </a:xfrm>
          <a:prstGeom prst="roundRect">
            <a:avLst>
              <a:gd name="adj" fmla="val 8120"/>
            </a:avLst>
          </a:prstGeom>
          <a:solidFill>
            <a:srgbClr val="242429"/>
          </a:solidFill>
          <a:ln w="30480">
            <a:solidFill>
              <a:srgbClr val="5C5C6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49710" y="2897029"/>
            <a:ext cx="121920" cy="1801773"/>
          </a:xfrm>
          <a:prstGeom prst="roundRect">
            <a:avLst>
              <a:gd name="adj" fmla="val 27907"/>
            </a:avLst>
          </a:prstGeom>
          <a:solidFill>
            <a:srgbClr val="FDC4C4"/>
          </a:solidFill>
          <a:ln/>
        </p:spPr>
      </p:sp>
      <p:sp>
        <p:nvSpPr>
          <p:cNvPr id="6" name="Text 3"/>
          <p:cNvSpPr/>
          <p:nvPr/>
        </p:nvSpPr>
        <p:spPr>
          <a:xfrm>
            <a:off x="6628924" y="315432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Призначення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6628924" y="3715703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Автоматизація збору та надання метеорологічної інформації з кількох джерел в єдиному веб-інтерфейсі.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4925616"/>
            <a:ext cx="7556421" cy="2164675"/>
          </a:xfrm>
          <a:prstGeom prst="roundRect">
            <a:avLst>
              <a:gd name="adj" fmla="val 6759"/>
            </a:avLst>
          </a:prstGeom>
          <a:solidFill>
            <a:srgbClr val="242429"/>
          </a:solidFill>
          <a:ln w="30480">
            <a:solidFill>
              <a:srgbClr val="5C5C6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49710" y="4925616"/>
            <a:ext cx="121920" cy="2164675"/>
          </a:xfrm>
          <a:prstGeom prst="roundRect">
            <a:avLst>
              <a:gd name="adj" fmla="val 27907"/>
            </a:avLst>
          </a:prstGeom>
          <a:solidFill>
            <a:srgbClr val="FDC4C4"/>
          </a:solidFill>
          <a:ln/>
        </p:spPr>
      </p:sp>
      <p:sp>
        <p:nvSpPr>
          <p:cNvPr id="10" name="Text 7"/>
          <p:cNvSpPr/>
          <p:nvPr/>
        </p:nvSpPr>
        <p:spPr>
          <a:xfrm>
            <a:off x="6628924" y="518291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Мета</a:t>
            </a:r>
            <a:endParaRPr lang="en-US" sz="2650" dirty="0"/>
          </a:p>
        </p:txBody>
      </p:sp>
      <p:sp>
        <p:nvSpPr>
          <p:cNvPr id="11" name="Text 8"/>
          <p:cNvSpPr/>
          <p:nvPr/>
        </p:nvSpPr>
        <p:spPr>
          <a:xfrm>
            <a:off x="6628924" y="5744289"/>
            <a:ext cx="695039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Забезпечення користувачів об’єктивною картиною погодних умов шляхом агрегації та порівняння даних для зменшення ймовірності похибок прогнозу.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5438" y="507563"/>
            <a:ext cx="6791563" cy="576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Ключові Функціональні Задачі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5438" y="1452563"/>
            <a:ext cx="737592" cy="1106448"/>
          </a:xfrm>
          <a:prstGeom prst="roundRect">
            <a:avLst>
              <a:gd name="adj" fmla="val 360034"/>
            </a:avLst>
          </a:prstGeom>
          <a:solidFill>
            <a:srgbClr val="434348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5943" y="1867376"/>
            <a:ext cx="276582" cy="2765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67339" y="1636871"/>
            <a:ext cx="230516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Збір Даних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567339" y="2035612"/>
            <a:ext cx="12417623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Інтеграція з зовнішніми API для отримання прогнозів.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5438" y="2743319"/>
            <a:ext cx="737592" cy="1106448"/>
          </a:xfrm>
          <a:prstGeom prst="roundRect">
            <a:avLst>
              <a:gd name="adj" fmla="val 360034"/>
            </a:avLst>
          </a:prstGeom>
          <a:solidFill>
            <a:srgbClr val="434348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5943" y="3158133"/>
            <a:ext cx="276582" cy="27658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67339" y="2927628"/>
            <a:ext cx="230516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Агрегація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567339" y="3326368"/>
            <a:ext cx="12417623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Обробка даних та розрахунок середніх значень.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45438" y="4034076"/>
            <a:ext cx="737592" cy="1106448"/>
          </a:xfrm>
          <a:prstGeom prst="roundRect">
            <a:avLst>
              <a:gd name="adj" fmla="val 360034"/>
            </a:avLst>
          </a:prstGeom>
          <a:solidFill>
            <a:srgbClr val="434348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5943" y="4448889"/>
            <a:ext cx="276582" cy="27658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67339" y="4218384"/>
            <a:ext cx="230516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Геолокація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567339" y="4617125"/>
            <a:ext cx="12417623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Автоматичне визначення міста користувача.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45438" y="5324832"/>
            <a:ext cx="737592" cy="1106448"/>
          </a:xfrm>
          <a:prstGeom prst="roundRect">
            <a:avLst>
              <a:gd name="adj" fmla="val 360034"/>
            </a:avLst>
          </a:prstGeom>
          <a:solidFill>
            <a:srgbClr val="434348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5943" y="5739646"/>
            <a:ext cx="276582" cy="27658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67339" y="5509141"/>
            <a:ext cx="230516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Пошук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1567339" y="5907881"/>
            <a:ext cx="12417623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Введення назви міста з системою підказок.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645438" y="6615589"/>
            <a:ext cx="737592" cy="1106448"/>
          </a:xfrm>
          <a:prstGeom prst="roundRect">
            <a:avLst>
              <a:gd name="adj" fmla="val 360034"/>
            </a:avLst>
          </a:prstGeom>
          <a:solidFill>
            <a:srgbClr val="434348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75943" y="7030403"/>
            <a:ext cx="276582" cy="27658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567339" y="6799898"/>
            <a:ext cx="230516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Візуалізація</a:t>
            </a: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1567339" y="7198638"/>
            <a:ext cx="12417623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Побудова динамічних графіків зміни показників.</a:t>
            </a:r>
            <a:endParaRPr lang="en-US" sz="1450" dirty="0"/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771" y="1682805"/>
            <a:ext cx="542925" cy="552450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6522" y="3050143"/>
            <a:ext cx="485775" cy="552450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341" y="4244280"/>
            <a:ext cx="476250" cy="685800"/>
          </a:xfrm>
          <a:prstGeom prst="rect">
            <a:avLst/>
          </a:prstGeom>
        </p:spPr>
      </p:pic>
      <p:pic>
        <p:nvPicPr>
          <p:cNvPr id="28" name="Рисунок 2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9446" y="5567592"/>
            <a:ext cx="476250" cy="561975"/>
          </a:xfrm>
          <a:prstGeom prst="rect">
            <a:avLst/>
          </a:prstGeom>
        </p:spPr>
      </p:pic>
      <p:pic>
        <p:nvPicPr>
          <p:cNvPr id="29" name="Рисунок 2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9846" y="6892469"/>
            <a:ext cx="619125" cy="5524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868" y="1026084"/>
            <a:ext cx="68048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Порівняння з Аналогами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19449" y="3014457"/>
            <a:ext cx="7604284" cy="1958578"/>
          </a:xfrm>
          <a:prstGeom prst="roundRect">
            <a:avLst>
              <a:gd name="adj" fmla="val 130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7069" y="3022077"/>
            <a:ext cx="7589044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53883" y="3165786"/>
            <a:ext cx="18192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Джерело даних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3234406" y="3165786"/>
            <a:ext cx="219491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Одиничне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890571" y="3165786"/>
            <a:ext cx="219872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Множинне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27069" y="3672397"/>
            <a:ext cx="7589044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53883" y="3816105"/>
            <a:ext cx="18192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Агрегація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3234406" y="3816105"/>
            <a:ext cx="219491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Відсутня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890571" y="3816105"/>
            <a:ext cx="219872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Присутня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27069" y="4322716"/>
            <a:ext cx="7589044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53883" y="4466424"/>
            <a:ext cx="18192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Порівняння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3234406" y="4466424"/>
            <a:ext cx="219491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Відсутнє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5890571" y="4466424"/>
            <a:ext cx="219872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Присутнє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19449" y="5276529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Аналоги: </a:t>
            </a:r>
            <a:r>
              <a:rPr lang="en-US" sz="1750" dirty="0" smtClean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Weather, </a:t>
            </a:r>
            <a:r>
              <a:rPr lang="en-US" sz="1750" dirty="0" err="1" smtClean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AccuWeather</a:t>
            </a: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WorldWeather.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19448" y="5865806"/>
            <a:ext cx="832047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Ключова відмінність:</a:t>
            </a: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 dirty="0" err="1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Мій</a:t>
            </a: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 dirty="0" err="1" smtClean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сервіс</a:t>
            </a:r>
            <a:r>
              <a:rPr lang="uk-UA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uk-UA" sz="1750" dirty="0" smtClean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r>
              <a:rPr lang="en-US" sz="1750" dirty="0" smtClean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агрегатор, </a:t>
            </a:r>
            <a:r>
              <a:rPr lang="en-US" sz="1750" dirty="0" err="1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аналоги</a:t>
            </a: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uk-UA" sz="1750" dirty="0" smtClean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r>
              <a:rPr lang="en-US" sz="1750" dirty="0" smtClean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першоджерела.</a:t>
            </a:r>
            <a:endParaRPr lang="en-US" sz="175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2160" y="1551238"/>
            <a:ext cx="4885015" cy="4885015"/>
          </a:xfrm>
          <a:prstGeom prst="rect">
            <a:avLst/>
          </a:prstGeom>
        </p:spPr>
      </p:pic>
      <p:sp>
        <p:nvSpPr>
          <p:cNvPr id="23" name="Shape 2"/>
          <p:cNvSpPr/>
          <p:nvPr/>
        </p:nvSpPr>
        <p:spPr>
          <a:xfrm>
            <a:off x="719448" y="2341642"/>
            <a:ext cx="7589044" cy="650319"/>
          </a:xfrm>
          <a:prstGeom prst="rect">
            <a:avLst/>
          </a:prstGeom>
          <a:solidFill>
            <a:schemeClr val="accent1">
              <a:lumMod val="20000"/>
              <a:lumOff val="80000"/>
              <a:alpha val="4000"/>
            </a:schemeClr>
          </a:solidFill>
          <a:ln>
            <a:solidFill>
              <a:schemeClr val="bg1">
                <a:lumMod val="50000"/>
              </a:schemeClr>
            </a:solidFill>
          </a:ln>
        </p:spPr>
      </p:sp>
      <p:sp>
        <p:nvSpPr>
          <p:cNvPr id="26" name="Text 3"/>
          <p:cNvSpPr/>
          <p:nvPr/>
        </p:nvSpPr>
        <p:spPr>
          <a:xfrm>
            <a:off x="5686702" y="2473912"/>
            <a:ext cx="18192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uk-UA" sz="1750" u="sng" dirty="0" smtClean="0">
                <a:solidFill>
                  <a:srgbClr val="C7CDD6"/>
                </a:solidFill>
                <a:latin typeface="Inter" pitchFamily="34" charset="0"/>
                <a:ea typeface="Inter" pitchFamily="34" charset="-122"/>
              </a:rPr>
              <a:t>Курсова робота</a:t>
            </a:r>
            <a:endParaRPr lang="en-US" sz="1750" u="sng" dirty="0"/>
          </a:p>
        </p:txBody>
      </p:sp>
      <p:sp>
        <p:nvSpPr>
          <p:cNvPr id="27" name="Text 3"/>
          <p:cNvSpPr/>
          <p:nvPr/>
        </p:nvSpPr>
        <p:spPr>
          <a:xfrm>
            <a:off x="3347153" y="2473913"/>
            <a:ext cx="18192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uk-UA" sz="1750" u="sng" dirty="0" smtClean="0">
                <a:solidFill>
                  <a:srgbClr val="C7CDD6"/>
                </a:solidFill>
                <a:latin typeface="Inter" pitchFamily="34" charset="0"/>
                <a:ea typeface="Inter" pitchFamily="34" charset="-122"/>
              </a:rPr>
              <a:t>Аналоги</a:t>
            </a:r>
            <a:endParaRPr lang="en-US" sz="1750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58650" y="1025108"/>
            <a:ext cx="6752868" cy="51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Діаграма Варіантів Використання</a:t>
            </a:r>
            <a:endParaRPr lang="en-US" sz="3250" dirty="0"/>
          </a:p>
        </p:txBody>
      </p:sp>
      <p:pic>
        <p:nvPicPr>
          <p:cNvPr id="16" name="Рисунок 15" descr="C:\Users\User\Downloads\use_case.drawio (2)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3182" y="2068411"/>
            <a:ext cx="8693228" cy="5269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60" y="1983568"/>
            <a:ext cx="9982200" cy="5438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740123" y="715017"/>
            <a:ext cx="7291388" cy="465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Архітектура Програмного Забезпечення</a:t>
            </a:r>
            <a:endParaRPr lang="en-US" sz="2900" dirty="0"/>
          </a:p>
        </p:txBody>
      </p:sp>
      <p:pic>
        <p:nvPicPr>
          <p:cNvPr id="24" name="Рисунок 23" descr="C:\Users\User\Downloads\Диаграмма без названия.drawio (15)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894" y="1572692"/>
            <a:ext cx="8701940" cy="6091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C:\Users\User\Downloads\Диаграмма без названия.drawio (16)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9926" y="312236"/>
            <a:ext cx="7180639" cy="76943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3764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43945" y="730210"/>
            <a:ext cx="7651671" cy="1332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Інтеграція Зовнішніх Сервісів (API)</a:t>
            </a:r>
            <a:endParaRPr lang="en-US" sz="41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945" y="2382560"/>
            <a:ext cx="1065967" cy="12792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123033" y="2595682"/>
            <a:ext cx="266497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Geocoding API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7123034" y="2974837"/>
            <a:ext cx="6372582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Перетворення назв міст у </a:t>
            </a:r>
            <a:r>
              <a:rPr lang="en-US" sz="1650" dirty="0" err="1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географічні</a:t>
            </a:r>
            <a:r>
              <a:rPr lang="en-US" sz="16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50" dirty="0" err="1" smtClean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координати</a:t>
            </a:r>
            <a:r>
              <a:rPr lang="uk-UA" sz="1650" dirty="0" smtClean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зворотній процес</a:t>
            </a:r>
          </a:p>
          <a:p>
            <a:pPr marL="0" indent="0" algn="l">
              <a:lnSpc>
                <a:spcPts val="2650"/>
              </a:lnSpc>
              <a:buNone/>
            </a:pPr>
            <a:r>
              <a:rPr lang="" sz="1650" dirty="0" smtClean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 пошук </a:t>
            </a:r>
            <a:r>
              <a:rPr lang="uk-UA" sz="1650" dirty="0" smtClean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міст по частковому введенні</a:t>
            </a:r>
            <a:r>
              <a:rPr lang="en-US" sz="1650" dirty="0" smtClean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3945" y="3661767"/>
            <a:ext cx="1065967" cy="12792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123033" y="3874889"/>
            <a:ext cx="266497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OpenWeatherMap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7123033" y="4335780"/>
            <a:ext cx="6372582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uk-UA" sz="1650" dirty="0" smtClean="0">
                <a:solidFill>
                  <a:srgbClr val="C7CDD6"/>
                </a:solidFill>
                <a:latin typeface="Inter" pitchFamily="34" charset="0"/>
                <a:ea typeface="Inter" pitchFamily="34" charset="-122"/>
              </a:rPr>
              <a:t>Найпопулярніший безкоштовний сервіс </a:t>
            </a:r>
            <a:endParaRPr lang="en-US" sz="16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3945" y="4940975"/>
            <a:ext cx="1065967" cy="12792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123033" y="5154097"/>
            <a:ext cx="266497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WeatherAPI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7123033" y="5614988"/>
            <a:ext cx="6372582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uk-UA" sz="1650" dirty="0" smtClean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Другий сервіс, що надає усі необхідні дані, як і перший</a:t>
            </a:r>
            <a:endParaRPr lang="en-US" sz="16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3945" y="6220182"/>
            <a:ext cx="1065967" cy="127920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123033" y="6372344"/>
            <a:ext cx="266497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Open-Meteo</a:t>
            </a:r>
            <a:endParaRPr lang="en-US" sz="2050" dirty="0"/>
          </a:p>
        </p:txBody>
      </p:sp>
      <p:sp>
        <p:nvSpPr>
          <p:cNvPr id="15" name="Text 8"/>
          <p:cNvSpPr/>
          <p:nvPr/>
        </p:nvSpPr>
        <p:spPr>
          <a:xfrm>
            <a:off x="7123033" y="6833235"/>
            <a:ext cx="6372582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uk-UA" sz="1650" dirty="0" smtClean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Менш популярний сервіс, проте достатній та </a:t>
            </a:r>
          </a:p>
          <a:p>
            <a:pPr marL="0" indent="0" algn="l">
              <a:lnSpc>
                <a:spcPts val="2650"/>
              </a:lnSpc>
              <a:buNone/>
            </a:pPr>
            <a:r>
              <a:rPr lang="uk-UA" sz="1650" dirty="0" smtClean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дозволяє оптимізувати кількість отриманих даних</a:t>
            </a:r>
            <a:endParaRPr lang="en-US" sz="16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4077821" y="3735209"/>
            <a:ext cx="6565965" cy="8768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5200"/>
              </a:lnSpc>
            </a:pPr>
            <a:r>
              <a:rPr lang="uk-UA" sz="8400" dirty="0" smtClean="0">
                <a:solidFill>
                  <a:srgbClr val="EFD5FA"/>
                </a:solidFill>
              </a:rPr>
              <a:t>Демонстрація</a:t>
            </a:r>
            <a:endParaRPr lang="en-US" sz="8400" dirty="0"/>
          </a:p>
        </p:txBody>
      </p:sp>
    </p:spTree>
    <p:extLst>
      <p:ext uri="{BB962C8B-B14F-4D97-AF65-F5344CB8AC3E}">
        <p14:creationId xmlns:p14="http://schemas.microsoft.com/office/powerpoint/2010/main" val="1975862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079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55650" y="661317"/>
            <a:ext cx="6294596" cy="701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 err="1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Використані</a:t>
            </a:r>
            <a:r>
              <a:rPr lang="en-US" sz="44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" sz="44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</a:t>
            </a:r>
            <a:r>
              <a:rPr lang="en-US" sz="4400" dirty="0" err="1" smtClean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ехнології</a:t>
            </a:r>
            <a:endParaRPr lang="en-US" sz="4400" dirty="0"/>
          </a:p>
        </p:txBody>
      </p:sp>
      <p:pic>
        <p:nvPicPr>
          <p:cNvPr id="1046" name="Picture 22" descr="FastAPI · GitHu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53" y="2153942"/>
            <a:ext cx="1961453" cy="1961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File:Python-logo-notext.svg - Wikimedia Common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029" y="2193693"/>
            <a:ext cx="1825625" cy="182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2661" y="2193693"/>
            <a:ext cx="2023077" cy="2023077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0" y="5580957"/>
            <a:ext cx="2286000" cy="2286000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6039" y="5697374"/>
            <a:ext cx="2053166" cy="2053166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26313" y="5396464"/>
            <a:ext cx="1707487" cy="21703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84088" y="74905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Висновки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2734793" y="1807270"/>
            <a:ext cx="3664744" cy="2103715"/>
          </a:xfrm>
          <a:prstGeom prst="roundRect">
            <a:avLst>
              <a:gd name="adj" fmla="val 25877"/>
            </a:avLst>
          </a:prstGeom>
          <a:solidFill>
            <a:srgbClr val="434348"/>
          </a:solidFill>
          <a:ln/>
        </p:spPr>
      </p:sp>
      <p:sp>
        <p:nvSpPr>
          <p:cNvPr id="5" name="Text 2"/>
          <p:cNvSpPr/>
          <p:nvPr/>
        </p:nvSpPr>
        <p:spPr>
          <a:xfrm>
            <a:off x="2961607" y="2034084"/>
            <a:ext cx="3211116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Мета досягнута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2961607" y="2595464"/>
            <a:ext cx="3211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Створено повнофункціональний веб-агрегатор погоди.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2734793" y="4076602"/>
            <a:ext cx="3664863" cy="2103715"/>
          </a:xfrm>
          <a:prstGeom prst="roundRect">
            <a:avLst>
              <a:gd name="adj" fmla="val 25877"/>
            </a:avLst>
          </a:prstGeom>
          <a:solidFill>
            <a:srgbClr val="434348"/>
          </a:solidFill>
          <a:ln/>
        </p:spPr>
      </p:sp>
      <p:sp>
        <p:nvSpPr>
          <p:cNvPr id="8" name="Text 5"/>
          <p:cNvSpPr/>
          <p:nvPr/>
        </p:nvSpPr>
        <p:spPr>
          <a:xfrm>
            <a:off x="2961607" y="4303416"/>
            <a:ext cx="3211235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Задачі виконано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2961607" y="4864796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Реалізовано пошук, агрегацію, візуалізацію даних.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053260" y="6520220"/>
            <a:ext cx="7556421" cy="1377910"/>
          </a:xfrm>
          <a:prstGeom prst="roundRect">
            <a:avLst>
              <a:gd name="adj" fmla="val 39508"/>
            </a:avLst>
          </a:prstGeom>
          <a:solidFill>
            <a:srgbClr val="434348"/>
          </a:solidFill>
          <a:ln/>
        </p:spPr>
      </p:sp>
      <p:sp>
        <p:nvSpPr>
          <p:cNvPr id="11" name="Text 8"/>
          <p:cNvSpPr/>
          <p:nvPr/>
        </p:nvSpPr>
        <p:spPr>
          <a:xfrm>
            <a:off x="1280074" y="674703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Сервіс готовий</a:t>
            </a:r>
            <a:endParaRPr lang="en-US" sz="2650" dirty="0"/>
          </a:p>
        </p:txBody>
      </p:sp>
      <p:sp>
        <p:nvSpPr>
          <p:cNvPr id="12" name="Text 9"/>
          <p:cNvSpPr/>
          <p:nvPr/>
        </p:nvSpPr>
        <p:spPr>
          <a:xfrm>
            <a:off x="1280074" y="7308413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Забезпечує надійніший прогноз, зменшуючи похибки.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/>
        </p:nvSpPr>
        <p:spPr>
          <a:xfrm>
            <a:off x="3137442" y="2984870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84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Дякую за увагу!</a:t>
            </a:r>
            <a:endParaRPr lang="en-US" sz="8400" dirty="0"/>
          </a:p>
        </p:txBody>
      </p:sp>
      <p:sp>
        <p:nvSpPr>
          <p:cNvPr id="3" name="Text 11"/>
          <p:cNvSpPr/>
          <p:nvPr/>
        </p:nvSpPr>
        <p:spPr>
          <a:xfrm>
            <a:off x="4104257" y="458671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Готовий відповісти на </a:t>
            </a:r>
            <a:r>
              <a:rPr lang="en-US" sz="2500" dirty="0" err="1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ваші</a:t>
            </a:r>
            <a:r>
              <a:rPr lang="en-US" sz="2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500" dirty="0" err="1" smtClean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запитання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3024359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250</Words>
  <Application>Microsoft Office PowerPoint</Application>
  <PresentationFormat>Произвольный</PresentationFormat>
  <Paragraphs>69</Paragraphs>
  <Slides>12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Calibri</vt:lpstr>
      <vt:lpstr>Inter</vt:lpstr>
      <vt:lpstr>Instrument Sans Medium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Учетная запись Майкрософт</cp:lastModifiedBy>
  <cp:revision>29</cp:revision>
  <dcterms:created xsi:type="dcterms:W3CDTF">2025-12-08T15:03:05Z</dcterms:created>
  <dcterms:modified xsi:type="dcterms:W3CDTF">2025-12-08T16:17:16Z</dcterms:modified>
</cp:coreProperties>
</file>